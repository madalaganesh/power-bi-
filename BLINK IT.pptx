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14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9" name="Shape 14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/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12" name="Presentation Titl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13" name="Body Level One…"/>
          <p:cNvSpPr txBox="1"/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View from inside a stone structure, looking out towards stairs and a clear, blue sky"/>
          <p:cNvSpPr/>
          <p:nvPr>
            <p:ph type="pic" idx="21"/>
          </p:nvPr>
        </p:nvSpPr>
        <p:spPr>
          <a:xfrm>
            <a:off x="0" y="-1270000"/>
            <a:ext cx="24384000" cy="162729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Presentation Title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23" name="Author and Date"/>
          <p:cNvSpPr txBox="1"/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24" name="Body Level One…"/>
          <p:cNvSpPr txBox="1"/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A modern white building with glass panels against a clear, blue sky"/>
          <p:cNvSpPr/>
          <p:nvPr>
            <p:ph type="pic" idx="21"/>
          </p:nvPr>
        </p:nvSpPr>
        <p:spPr>
          <a:xfrm>
            <a:off x="9271000" y="1270000"/>
            <a:ext cx="16764000" cy="1117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" name="Slide Title"/>
          <p:cNvSpPr txBox="1"/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pPr/>
            <a:r>
              <a:t>Slide Title</a:t>
            </a:r>
          </a:p>
        </p:txBody>
      </p:sp>
      <p:sp>
        <p:nvSpPr>
          <p:cNvPr id="34" name="Body Level One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43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44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61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2" name="Small section of a modern shell bridge in Qingdao, Shandong, China with a partly cloudy sky above"/>
          <p:cNvSpPr/>
          <p:nvPr>
            <p:ph type="pic" idx="22"/>
          </p:nvPr>
        </p:nvSpPr>
        <p:spPr>
          <a:xfrm>
            <a:off x="9271000" y="1263848"/>
            <a:ext cx="16773843" cy="1118820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/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Section Title</a:t>
            </a:r>
          </a:p>
        </p:txBody>
      </p:sp>
      <p:sp>
        <p:nvSpPr>
          <p:cNvPr id="72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8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8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genda Title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Agenda Title</a:t>
            </a:r>
          </a:p>
        </p:txBody>
      </p:sp>
      <p:sp>
        <p:nvSpPr>
          <p:cNvPr id="89" name="Agenda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Agenda Subtitle</a:t>
            </a:r>
          </a:p>
        </p:txBody>
      </p:sp>
      <p:sp>
        <p:nvSpPr>
          <p:cNvPr id="90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5pPr>
          </a:lstStyle>
          <a:p>
            <a:pPr/>
            <a:r>
              <a:t>Agenda Topics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ody Level One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Statement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dy Level One…"/>
          <p:cNvSpPr txBox="1"/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7" name="Fact information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Fact information</a:t>
            </a:r>
          </a:p>
        </p:txBody>
      </p:sp>
      <p:sp>
        <p:nvSpPr>
          <p:cNvPr id="10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Attribution"/>
          <p:cNvSpPr txBox="1"/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Attribution</a:t>
            </a:r>
          </a:p>
        </p:txBody>
      </p:sp>
      <p:sp>
        <p:nvSpPr>
          <p:cNvPr id="116" name="Body Level One…"/>
          <p:cNvSpPr txBox="1"/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“Notable Quote”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Low-angle exterior view of a modern building facade covered with aluminium discs under a clear, blue sky"/>
          <p:cNvSpPr/>
          <p:nvPr>
            <p:ph type="pic" sz="quarter" idx="21"/>
          </p:nvPr>
        </p:nvSpPr>
        <p:spPr>
          <a:xfrm>
            <a:off x="15417800" y="1270000"/>
            <a:ext cx="8144934" cy="54102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5" name="Low-angle view of a modern, curved building under a cloudy sky"/>
          <p:cNvSpPr/>
          <p:nvPr>
            <p:ph type="pic" sz="quarter" idx="22"/>
          </p:nvPr>
        </p:nvSpPr>
        <p:spPr>
          <a:xfrm>
            <a:off x="15443200" y="7086600"/>
            <a:ext cx="8138580" cy="54229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6" name="View from inside a modern white building with glass panels, looking up to a bright, partly cloudy sky"/>
          <p:cNvSpPr/>
          <p:nvPr>
            <p:ph type="pic" idx="23"/>
          </p:nvPr>
        </p:nvSpPr>
        <p:spPr>
          <a:xfrm>
            <a:off x="-124635" y="1270000"/>
            <a:ext cx="16840169" cy="1124371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Low-angle view of the Azadi Tower in Tehran, Iran against a clear, bright sky"/>
          <p:cNvSpPr/>
          <p:nvPr>
            <p:ph type="pic" idx="21"/>
          </p:nvPr>
        </p:nvSpPr>
        <p:spPr>
          <a:xfrm>
            <a:off x="0" y="-1282700"/>
            <a:ext cx="24384000" cy="162814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Title</a:t>
            </a:r>
          </a:p>
        </p:txBody>
      </p:sp>
      <p:sp>
        <p:nvSpPr>
          <p:cNvPr id="3" name="Body Level One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M V GANESH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M V GANESH</a:t>
            </a:r>
          </a:p>
        </p:txBody>
      </p:sp>
      <p:sp>
        <p:nvSpPr>
          <p:cNvPr id="152" name="BlinkIT Grocery Sales Analysis Dashboard"/>
          <p:cNvSpPr txBox="1"/>
          <p:nvPr>
            <p:ph type="ctrTitle"/>
          </p:nvPr>
        </p:nvSpPr>
        <p:spPr>
          <a:prstGeom prst="rect">
            <a:avLst/>
          </a:prstGeom>
        </p:spPr>
        <p:txBody>
          <a:bodyPr/>
          <a:lstStyle>
            <a:lvl1pPr defTabSz="457200">
              <a:lnSpc>
                <a:spcPct val="100000"/>
              </a:lnSpc>
              <a:defRPr spc="0" sz="6000">
                <a:latin typeface="Times Roman"/>
                <a:ea typeface="Times Roman"/>
                <a:cs typeface="Times Roman"/>
                <a:sym typeface="Times Roman"/>
              </a:defRPr>
            </a:lvl1pPr>
          </a:lstStyle>
          <a:p>
            <a:pPr/>
            <a:r>
              <a:t>BlinkIT Grocery Sales Analysis Dashboard</a:t>
            </a:r>
          </a:p>
        </p:txBody>
      </p:sp>
      <p:sp>
        <p:nvSpPr>
          <p:cNvPr id="153" name="POWER BI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POWER BI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The dataset contains grocery sales information such as:…"/>
          <p:cNvSpPr txBox="1"/>
          <p:nvPr>
            <p:ph type="body" idx="1"/>
          </p:nvPr>
        </p:nvSpPr>
        <p:spPr>
          <a:xfrm>
            <a:off x="1206500" y="3232504"/>
            <a:ext cx="21971000" cy="8256012"/>
          </a:xfrm>
          <a:prstGeom prst="rect">
            <a:avLst/>
          </a:prstGeom>
        </p:spPr>
        <p:txBody>
          <a:bodyPr/>
          <a:lstStyle/>
          <a:p>
            <a:pPr marL="0" indent="0" defTabSz="457200">
              <a:lnSpc>
                <a:spcPct val="100000"/>
              </a:lnSpc>
              <a:spcBef>
                <a:spcPts val="1200"/>
              </a:spcBef>
              <a:buSzTx/>
              <a:buNone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The dataset contains grocery sales information such as: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Item Type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Item Fat Content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Outlet Size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Outlet Location Type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Outlet Type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Outlet Establishment Year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Sales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Rating</a:t>
            </a:r>
          </a:p>
        </p:txBody>
      </p:sp>
      <p:sp>
        <p:nvSpPr>
          <p:cNvPr id="156" name="STEP 1"/>
          <p:cNvSpPr txBox="1"/>
          <p:nvPr/>
        </p:nvSpPr>
        <p:spPr>
          <a:xfrm>
            <a:off x="1712755" y="1561599"/>
            <a:ext cx="2711959" cy="10192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1" sz="6000"/>
            </a:lvl1pPr>
          </a:lstStyle>
          <a:p>
            <a:pPr/>
            <a:r>
              <a:t>STEP 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STEP2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STEP2</a:t>
            </a:r>
          </a:p>
        </p:txBody>
      </p:sp>
      <p:sp>
        <p:nvSpPr>
          <p:cNvPr id="159" name="The objective of this project is to analyze BlinkIT grocery sales data and create an interactive dashboard to understand:…"/>
          <p:cNvSpPr txBox="1"/>
          <p:nvPr>
            <p:ph type="body" idx="1"/>
          </p:nvPr>
        </p:nvSpPr>
        <p:spPr>
          <a:xfrm>
            <a:off x="1206500" y="3804004"/>
            <a:ext cx="21971000" cy="8256012"/>
          </a:xfrm>
          <a:prstGeom prst="rect">
            <a:avLst/>
          </a:prstGeom>
        </p:spPr>
        <p:txBody>
          <a:bodyPr/>
          <a:lstStyle/>
          <a:p>
            <a:pPr marL="0" indent="0" defTabSz="457200">
              <a:lnSpc>
                <a:spcPct val="100000"/>
              </a:lnSpc>
              <a:spcBef>
                <a:spcPts val="1200"/>
              </a:spcBef>
              <a:buSzTx/>
              <a:buNone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The objective of this project is to analyze BlinkIT grocery sales data and create an interactive dashboard to understand:</a:t>
            </a:r>
          </a:p>
          <a:p>
            <a:pPr marL="0" indent="0" defTabSz="457200">
              <a:lnSpc>
                <a:spcPct val="100000"/>
              </a:lnSpc>
              <a:spcBef>
                <a:spcPts val="1200"/>
              </a:spcBef>
              <a:buSzTx/>
              <a:buNone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Total sales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Average sales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Outlet performance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Item type performance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Sales by outlet size and location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TEP3 Data Cleaning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STEP3 Data Cleaning</a:t>
            </a:r>
          </a:p>
        </p:txBody>
      </p:sp>
      <p:sp>
        <p:nvSpPr>
          <p:cNvPr id="162" name="In Power Query, I performed: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457200">
              <a:lnSpc>
                <a:spcPct val="100000"/>
              </a:lnSpc>
              <a:spcBef>
                <a:spcPts val="1200"/>
              </a:spcBef>
              <a:buSzTx/>
              <a:buNone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In Power Query, I performed: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Checked missing values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Removed duplicate records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Corrected data types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Standardized text values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Removed unnecessary columns if required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TEP4 Data Transformation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STEP4 Data Transformation</a:t>
            </a:r>
          </a:p>
        </p:txBody>
      </p:sp>
      <p:sp>
        <p:nvSpPr>
          <p:cNvPr id="165" name="I transformed the data to make it analysis-ready: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457200">
              <a:lnSpc>
                <a:spcPct val="100000"/>
              </a:lnSpc>
              <a:spcBef>
                <a:spcPts val="1400"/>
              </a:spcBef>
              <a:buSzTx/>
              <a:buNone/>
              <a:defRPr b="1" sz="5000">
                <a:latin typeface="Times Roman"/>
                <a:ea typeface="Times Roman"/>
                <a:cs typeface="Times Roman"/>
                <a:sym typeface="Times Roman"/>
              </a:defRPr>
            </a:pPr>
          </a:p>
          <a:p>
            <a:pPr marL="0" indent="0" defTabSz="457200">
              <a:lnSpc>
                <a:spcPct val="100000"/>
              </a:lnSpc>
              <a:spcBef>
                <a:spcPts val="1200"/>
              </a:spcBef>
              <a:buSzTx/>
              <a:buNone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I transformed the data to make it analysis-ready: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Cleaned item fat content values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Checked numerical columns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Verified sales and rating columns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Prepared data for dashboard visuals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STEP 5 DAX Measures Created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STEP 5 DAX Measures Created</a:t>
            </a:r>
          </a:p>
        </p:txBody>
      </p:sp>
      <p:sp>
        <p:nvSpPr>
          <p:cNvPr id="168" name="I created measures like:…"/>
          <p:cNvSpPr txBox="1"/>
          <p:nvPr>
            <p:ph type="body" idx="1"/>
          </p:nvPr>
        </p:nvSpPr>
        <p:spPr>
          <a:xfrm>
            <a:off x="1206500" y="3816704"/>
            <a:ext cx="21971000" cy="8256012"/>
          </a:xfrm>
          <a:prstGeom prst="rect">
            <a:avLst/>
          </a:prstGeom>
        </p:spPr>
        <p:txBody>
          <a:bodyPr/>
          <a:lstStyle/>
          <a:p>
            <a:pPr marL="0" indent="0" defTabSz="356615">
              <a:lnSpc>
                <a:spcPct val="100000"/>
              </a:lnSpc>
              <a:spcBef>
                <a:spcPts val="1100"/>
              </a:spcBef>
              <a:buSzTx/>
              <a:buNone/>
              <a:defRPr b="1" sz="3900">
                <a:latin typeface="Times Roman"/>
                <a:ea typeface="Times Roman"/>
                <a:cs typeface="Times Roman"/>
                <a:sym typeface="Times Roman"/>
              </a:defRPr>
            </a:pPr>
          </a:p>
          <a:p>
            <a:pPr marL="0" indent="0" defTabSz="356615">
              <a:lnSpc>
                <a:spcPct val="100000"/>
              </a:lnSpc>
              <a:spcBef>
                <a:spcPts val="900"/>
              </a:spcBef>
              <a:buSzTx/>
              <a:buNone/>
              <a:defRPr sz="39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I created measures like:</a:t>
            </a:r>
          </a:p>
          <a:p>
            <a:pPr marL="0" indent="0" defTabSz="356615">
              <a:lnSpc>
                <a:spcPct val="100000"/>
              </a:lnSpc>
              <a:spcBef>
                <a:spcPts val="0"/>
              </a:spcBef>
              <a:buSzTx/>
              <a:buNone/>
              <a:defRPr sz="3900">
                <a:latin typeface="Courier"/>
                <a:ea typeface="Courier"/>
                <a:cs typeface="Courier"/>
                <a:sym typeface="Courier"/>
              </a:defRPr>
            </a:pPr>
          </a:p>
          <a:p>
            <a:pPr marL="0" indent="0" defTabSz="356615">
              <a:lnSpc>
                <a:spcPct val="100000"/>
              </a:lnSpc>
              <a:spcBef>
                <a:spcPts val="0"/>
              </a:spcBef>
              <a:buSzTx/>
              <a:buNone/>
              <a:defRPr sz="3900">
                <a:latin typeface="Courier"/>
                <a:ea typeface="Courier"/>
                <a:cs typeface="Courier"/>
                <a:sym typeface="Courier"/>
              </a:defRPr>
            </a:pPr>
            <a:r>
              <a:t>Total Sales = SUM('BlinkIT Grocery Data'[Sales])</a:t>
            </a:r>
          </a:p>
          <a:p>
            <a:pPr marL="0" indent="0" defTabSz="356615">
              <a:lnSpc>
                <a:spcPct val="100000"/>
              </a:lnSpc>
              <a:spcBef>
                <a:spcPts val="0"/>
              </a:spcBef>
              <a:buSzTx/>
              <a:buNone/>
              <a:defRPr sz="3900">
                <a:latin typeface="Courier"/>
                <a:ea typeface="Courier"/>
                <a:cs typeface="Courier"/>
                <a:sym typeface="Courier"/>
              </a:defRPr>
            </a:pPr>
          </a:p>
          <a:p>
            <a:pPr marL="0" indent="0" defTabSz="356615">
              <a:lnSpc>
                <a:spcPct val="100000"/>
              </a:lnSpc>
              <a:spcBef>
                <a:spcPts val="0"/>
              </a:spcBef>
              <a:buSzTx/>
              <a:buNone/>
              <a:defRPr sz="3900">
                <a:latin typeface="Courier"/>
                <a:ea typeface="Courier"/>
                <a:cs typeface="Courier"/>
                <a:sym typeface="Courier"/>
              </a:defRPr>
            </a:pPr>
          </a:p>
          <a:p>
            <a:pPr marL="0" indent="0" defTabSz="356615">
              <a:lnSpc>
                <a:spcPct val="100000"/>
              </a:lnSpc>
              <a:spcBef>
                <a:spcPts val="0"/>
              </a:spcBef>
              <a:buSzTx/>
              <a:buNone/>
              <a:defRPr sz="3900">
                <a:latin typeface="Courier"/>
                <a:ea typeface="Courier"/>
                <a:cs typeface="Courier"/>
                <a:sym typeface="Courier"/>
              </a:defRPr>
            </a:pPr>
            <a:r>
              <a:t>Average Sales = AVERAGE('BlinkIT Grocery Data'[Sales])</a:t>
            </a:r>
          </a:p>
          <a:p>
            <a:pPr marL="0" indent="0" defTabSz="356615">
              <a:lnSpc>
                <a:spcPct val="100000"/>
              </a:lnSpc>
              <a:spcBef>
                <a:spcPts val="0"/>
              </a:spcBef>
              <a:buSzTx/>
              <a:buNone/>
              <a:defRPr sz="3900">
                <a:latin typeface="Courier"/>
                <a:ea typeface="Courier"/>
                <a:cs typeface="Courier"/>
                <a:sym typeface="Courier"/>
              </a:defRPr>
            </a:pPr>
          </a:p>
          <a:p>
            <a:pPr marL="0" indent="0" defTabSz="356615">
              <a:lnSpc>
                <a:spcPct val="100000"/>
              </a:lnSpc>
              <a:spcBef>
                <a:spcPts val="0"/>
              </a:spcBef>
              <a:buSzTx/>
              <a:buNone/>
              <a:defRPr sz="3900">
                <a:latin typeface="Courier"/>
                <a:ea typeface="Courier"/>
                <a:cs typeface="Courier"/>
                <a:sym typeface="Courier"/>
              </a:defRPr>
            </a:pPr>
          </a:p>
          <a:p>
            <a:pPr marL="0" indent="0" defTabSz="356615">
              <a:lnSpc>
                <a:spcPct val="100000"/>
              </a:lnSpc>
              <a:spcBef>
                <a:spcPts val="0"/>
              </a:spcBef>
              <a:buSzTx/>
              <a:buNone/>
              <a:defRPr sz="3900">
                <a:latin typeface="Courier"/>
                <a:ea typeface="Courier"/>
                <a:cs typeface="Courier"/>
                <a:sym typeface="Courier"/>
              </a:defRPr>
            </a:pPr>
            <a:r>
              <a:t>No of Items = COUNT('BlinkIT Grocery Data'[Item Identifier])</a:t>
            </a:r>
          </a:p>
          <a:p>
            <a:pPr marL="0" indent="0" defTabSz="356615">
              <a:lnSpc>
                <a:spcPct val="100000"/>
              </a:lnSpc>
              <a:spcBef>
                <a:spcPts val="0"/>
              </a:spcBef>
              <a:buSzTx/>
              <a:buNone/>
              <a:defRPr sz="3900">
                <a:latin typeface="Courier"/>
                <a:ea typeface="Courier"/>
                <a:cs typeface="Courier"/>
                <a:sym typeface="Courier"/>
              </a:defRPr>
            </a:pPr>
          </a:p>
          <a:p>
            <a:pPr marL="0" indent="0" defTabSz="356615">
              <a:lnSpc>
                <a:spcPct val="100000"/>
              </a:lnSpc>
              <a:spcBef>
                <a:spcPts val="0"/>
              </a:spcBef>
              <a:buSzTx/>
              <a:buNone/>
              <a:defRPr sz="3900">
                <a:latin typeface="Courier"/>
                <a:ea typeface="Courier"/>
                <a:cs typeface="Courier"/>
                <a:sym typeface="Courier"/>
              </a:defRPr>
            </a:pPr>
          </a:p>
          <a:p>
            <a:pPr marL="0" indent="0" defTabSz="356615">
              <a:lnSpc>
                <a:spcPct val="100000"/>
              </a:lnSpc>
              <a:spcBef>
                <a:spcPts val="0"/>
              </a:spcBef>
              <a:buSzTx/>
              <a:buNone/>
              <a:defRPr sz="3900">
                <a:latin typeface="Courier"/>
                <a:ea typeface="Courier"/>
                <a:cs typeface="Courier"/>
                <a:sym typeface="Courier"/>
              </a:defRPr>
            </a:pPr>
            <a:r>
              <a:t>Average Rating = AVERAGE('BlinkIT Grocery Data'[Rating])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DASHBOARD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DASHBOARD</a:t>
            </a:r>
          </a:p>
        </p:txBody>
      </p:sp>
      <p:sp>
        <p:nvSpPr>
          <p:cNvPr id="171" name="Card Visuals → Total Sales, Average Sales, Number of Items, Average Rating…"/>
          <p:cNvSpPr txBox="1"/>
          <p:nvPr>
            <p:ph type="body" idx="1"/>
          </p:nvPr>
        </p:nvSpPr>
        <p:spPr>
          <a:xfrm>
            <a:off x="1206500" y="3943704"/>
            <a:ext cx="21971000" cy="8256012"/>
          </a:xfrm>
          <a:prstGeom prst="rect">
            <a:avLst/>
          </a:prstGeom>
        </p:spPr>
        <p:txBody>
          <a:bodyPr/>
          <a:lstStyle/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None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b="1"/>
              <a:t>Card Visuals</a:t>
            </a:r>
            <a:r>
              <a:t> → Total Sales, Average Sales, Number of Items, Average Rating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None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b="1"/>
              <a:t>Area Chart</a:t>
            </a:r>
            <a:r>
              <a:t> → Total Sales by Outlet Establishment Year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None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b="1"/>
              <a:t>Funnel Chart</a:t>
            </a:r>
            <a:r>
              <a:t> → Total Sales by Outlet Location Type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None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b="1"/>
              <a:t>Donut Chart</a:t>
            </a:r>
            <a:r>
              <a:t> → Fat Content Analysis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None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b="1"/>
              <a:t>Clustered Bar Chart</a:t>
            </a:r>
            <a:r>
              <a:t> → Item Fat Content by Outlet Location Type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None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b="1"/>
              <a:t>Horizontal Bar Chart</a:t>
            </a:r>
            <a:r>
              <a:t> → Item Type Analysis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None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b="1"/>
              <a:t>Pie Chart</a:t>
            </a:r>
            <a:r>
              <a:t> → Total Sales by Outlet Size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None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rPr b="1"/>
              <a:t>Table Visual</a:t>
            </a:r>
            <a:r>
              <a:t> → Outlet Type Analysis</a:t>
            </a:r>
          </a:p>
          <a:p>
            <a:pPr marL="0" indent="0" defTabSz="457200">
              <a:lnSpc>
                <a:spcPct val="100000"/>
              </a:lnSpc>
              <a:spcBef>
                <a:spcPts val="0"/>
              </a:spcBef>
              <a:buSzTx/>
              <a:buNone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Screenshot 2026-03-15 at 10.43.18 AM.png" descr="Screenshot 2026-03-15 at 10.43.18 A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5692" y="-1169476"/>
            <a:ext cx="24292616" cy="1518288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KEY INSIGHT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KEY INSIGHTS</a:t>
            </a:r>
          </a:p>
        </p:txBody>
      </p:sp>
      <p:sp>
        <p:nvSpPr>
          <p:cNvPr id="176" name="Main findings: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457200">
              <a:lnSpc>
                <a:spcPct val="100000"/>
              </a:lnSpc>
              <a:spcBef>
                <a:spcPts val="1200"/>
              </a:spcBef>
              <a:buSzTx/>
              <a:buNone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Main findings: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Tier 3 locations had the Lowest sales.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Medium outlets contributed the most revenue.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Supermarket Type 1 performed best.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Snack foods were among the top-selling categories.</a:t>
            </a:r>
          </a:p>
          <a:p>
            <a:pPr marL="457200" indent="-317500" defTabSz="457200">
              <a:lnSpc>
                <a:spcPct val="100000"/>
              </a:lnSpc>
              <a:spcBef>
                <a:spcPts val="0"/>
              </a:spcBef>
              <a:buFont typeface="Times Roman"/>
              <a:defRPr sz="50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Low Fat items had higher sales contribution.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BUSINESS RECOMMENDATION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BUSINESS RECOMMENDATIONS</a:t>
            </a:r>
          </a:p>
        </p:txBody>
      </p:sp>
      <p:sp>
        <p:nvSpPr>
          <p:cNvPr id="179" name="Focus more on Tier 3 locations.…"/>
          <p:cNvSpPr txBox="1"/>
          <p:nvPr>
            <p:ph type="body" idx="1"/>
          </p:nvPr>
        </p:nvSpPr>
        <p:spPr>
          <a:xfrm>
            <a:off x="1206500" y="3494391"/>
            <a:ext cx="21971001" cy="8256012"/>
          </a:xfrm>
          <a:prstGeom prst="rect">
            <a:avLst/>
          </a:prstGeom>
        </p:spPr>
        <p:txBody>
          <a:bodyPr/>
          <a:lstStyle/>
          <a:p>
            <a:pPr marL="0" indent="0" defTabSz="429768">
              <a:lnSpc>
                <a:spcPct val="100000"/>
              </a:lnSpc>
              <a:spcBef>
                <a:spcPts val="1400"/>
              </a:spcBef>
              <a:buSzTx/>
              <a:buNone/>
              <a:defRPr b="1" sz="4700">
                <a:latin typeface="Times Roman"/>
                <a:ea typeface="Times Roman"/>
                <a:cs typeface="Times Roman"/>
                <a:sym typeface="Times Roman"/>
              </a:defRPr>
            </a:pPr>
          </a:p>
          <a:p>
            <a:pPr marL="0" indent="0" defTabSz="429768">
              <a:lnSpc>
                <a:spcPct val="100000"/>
              </a:lnSpc>
              <a:spcBef>
                <a:spcPts val="1100"/>
              </a:spcBef>
              <a:buSzTx/>
              <a:buNone/>
              <a:defRPr sz="4700">
                <a:latin typeface="Times Roman"/>
                <a:ea typeface="Times Roman"/>
                <a:cs typeface="Times Roman"/>
                <a:sym typeface="Times Roman"/>
              </a:defRPr>
            </a:pPr>
          </a:p>
          <a:p>
            <a:pPr marL="429768" indent="-298450" defTabSz="429768">
              <a:lnSpc>
                <a:spcPct val="100000"/>
              </a:lnSpc>
              <a:spcBef>
                <a:spcPts val="0"/>
              </a:spcBef>
              <a:buFont typeface="Times Roman"/>
              <a:defRPr sz="47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Focus more on Tier 3 locations.</a:t>
            </a:r>
          </a:p>
          <a:p>
            <a:pPr marL="429768" indent="-298450" defTabSz="429768">
              <a:lnSpc>
                <a:spcPct val="100000"/>
              </a:lnSpc>
              <a:spcBef>
                <a:spcPts val="0"/>
              </a:spcBef>
              <a:buFont typeface="Times Roman"/>
              <a:defRPr sz="47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Increase stock of high-selling item categories.</a:t>
            </a:r>
          </a:p>
          <a:p>
            <a:pPr marL="429768" indent="-298450" defTabSz="429768">
              <a:lnSpc>
                <a:spcPct val="100000"/>
              </a:lnSpc>
              <a:spcBef>
                <a:spcPts val="0"/>
              </a:spcBef>
              <a:buFont typeface="Times Roman"/>
              <a:defRPr sz="47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Improve sales strategy for low-performing outlet types.</a:t>
            </a:r>
          </a:p>
          <a:p>
            <a:pPr marL="429768" indent="-298450" defTabSz="429768">
              <a:lnSpc>
                <a:spcPct val="100000"/>
              </a:lnSpc>
              <a:spcBef>
                <a:spcPts val="0"/>
              </a:spcBef>
              <a:buFont typeface="Times Roman"/>
              <a:defRPr sz="47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Use outlet-size analysis for better expansion planning.</a:t>
            </a:r>
          </a:p>
          <a:p>
            <a:pPr marL="429768" indent="-298450" defTabSz="429768">
              <a:lnSpc>
                <a:spcPct val="100000"/>
              </a:lnSpc>
              <a:spcBef>
                <a:spcPts val="0"/>
              </a:spcBef>
              <a:buFont typeface="Times Roman"/>
              <a:defRPr sz="4700">
                <a:latin typeface="Times Roman"/>
                <a:ea typeface="Times Roman"/>
                <a:cs typeface="Times Roman"/>
                <a:sym typeface="Times Roman"/>
              </a:defRPr>
            </a:pPr>
          </a:p>
          <a:p>
            <a:pPr marL="429768" indent="-298450" defTabSz="429768">
              <a:lnSpc>
                <a:spcPct val="100000"/>
              </a:lnSpc>
              <a:spcBef>
                <a:spcPts val="0"/>
              </a:spcBef>
              <a:buFont typeface="Times Roman"/>
              <a:defRPr sz="4700">
                <a:latin typeface="Times Roman"/>
                <a:ea typeface="Times Roman"/>
                <a:cs typeface="Times Roman"/>
                <a:sym typeface="Times Roman"/>
              </a:defRPr>
            </a:pPr>
          </a:p>
          <a:p>
            <a:pPr marL="0" indent="0" defTabSz="429768">
              <a:lnSpc>
                <a:spcPct val="100000"/>
              </a:lnSpc>
              <a:spcBef>
                <a:spcPts val="0"/>
              </a:spcBef>
              <a:buSzTx/>
              <a:buNone/>
              <a:defRPr sz="4700">
                <a:latin typeface="Times Roman"/>
                <a:ea typeface="Times Roman"/>
                <a:cs typeface="Times Roman"/>
                <a:sym typeface="Times Roman"/>
              </a:defRPr>
            </a:pPr>
            <a:r>
              <a:t>This dashboard helps BlinkIT understand sales performance across products and outlets. It supports better decision-making by identifying top-performing locations, outlet types, and product categories.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HANK YOU"/>
          <p:cNvSpPr txBox="1"/>
          <p:nvPr>
            <p:ph type="title"/>
          </p:nvPr>
        </p:nvSpPr>
        <p:spPr>
          <a:xfrm>
            <a:off x="4940132" y="5331839"/>
            <a:ext cx="15251573" cy="4142374"/>
          </a:xfrm>
          <a:prstGeom prst="rect">
            <a:avLst/>
          </a:prstGeom>
        </p:spPr>
        <p:txBody>
          <a:bodyPr/>
          <a:lstStyle>
            <a:lvl1pPr defTabSz="999718">
              <a:defRPr spc="-410" sz="20500"/>
            </a:lvl1pPr>
          </a:lstStyle>
          <a:p>
            <a:pPr/>
            <a:r>
              <a:t>THANK YOU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33_DynamicLight">
  <a:themeElements>
    <a:clrScheme name="33_DynamicLight">
      <a:dk1>
        <a:srgbClr val="5E5E5E"/>
      </a:dk1>
      <a:lt1>
        <a:srgbClr val="005E00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33_DynamicLight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33_Dynamic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33_DynamicLight">
  <a:themeElements>
    <a:clrScheme name="33_DynamicLight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33_DynamicLight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33_Dynamic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