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005E00"/>
          </a:solidFill>
        </a:fill>
      </a:tcStyle>
    </a:band2H>
    <a:firstCol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5E00"/>
          </a:solidFill>
        </a:fill>
      </a:tcStyle>
    </a:lastRow>
    <a:fir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38100" cap="flat">
              <a:solidFill>
                <a:srgbClr val="005E00"/>
              </a:solidFill>
              <a:prstDash val="solid"/>
              <a:round/>
            </a:ln>
          </a:top>
          <a:bottom>
            <a:ln w="127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005E00"/>
        </a:fontRef>
        <a:srgbClr val="005E00"/>
      </a:tcTxStyle>
      <a:tcStyle>
        <a:tcBdr>
          <a:left>
            <a:ln w="12700" cap="flat">
              <a:solidFill>
                <a:srgbClr val="005E00"/>
              </a:solidFill>
              <a:prstDash val="solid"/>
              <a:round/>
            </a:ln>
          </a:left>
          <a:right>
            <a:ln w="12700" cap="flat">
              <a:solidFill>
                <a:srgbClr val="005E00"/>
              </a:solidFill>
              <a:prstDash val="solid"/>
              <a:round/>
            </a:ln>
          </a:right>
          <a:top>
            <a:ln w="12700" cap="flat">
              <a:solidFill>
                <a:srgbClr val="005E00"/>
              </a:solidFill>
              <a:prstDash val="solid"/>
              <a:round/>
            </a:ln>
          </a:top>
          <a:bottom>
            <a:ln w="38100" cap="flat">
              <a:solidFill>
                <a:srgbClr val="005E00"/>
              </a:solidFill>
              <a:prstDash val="solid"/>
              <a:round/>
            </a:ln>
          </a:bottom>
          <a:insideH>
            <a:ln w="12700" cap="flat">
              <a:solidFill>
                <a:srgbClr val="005E00"/>
              </a:solidFill>
              <a:prstDash val="solid"/>
              <a:round/>
            </a:ln>
          </a:insideH>
          <a:insideV>
            <a:ln w="12700" cap="flat">
              <a:solidFill>
                <a:srgbClr val="005E00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7"/>
            <a:ext cx="16773843" cy="1118820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Body Level One…"/>
          <p:cNvSpPr txBox="1"/>
          <p:nvPr>
            <p:ph type="body" idx="2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6" y="1270000"/>
            <a:ext cx="16840170" cy="1124371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M V GANESH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/>
          <a:p>
            <a:pPr/>
            <a:r>
              <a:t>M V GANESH</a:t>
            </a:r>
          </a:p>
        </p:txBody>
      </p:sp>
      <p:sp>
        <p:nvSpPr>
          <p:cNvPr id="152" name="BlinkIT Grocery Sales Analysis Dashboard"/>
          <p:cNvSpPr txBox="1"/>
          <p:nvPr>
            <p:ph type="title"/>
          </p:nvPr>
        </p:nvSpPr>
        <p:spPr>
          <a:xfrm>
            <a:off x="1206495" y="2574990"/>
            <a:ext cx="21971006" cy="4648203"/>
          </a:xfrm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spc="0" sz="6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BlinkIT Grocery Sales Analysis Dashboard</a:t>
            </a:r>
          </a:p>
        </p:txBody>
      </p:sp>
      <p:sp>
        <p:nvSpPr>
          <p:cNvPr id="153" name="POWER BI"/>
          <p:cNvSpPr txBox="1"/>
          <p:nvPr/>
        </p:nvSpPr>
        <p:spPr>
          <a:xfrm>
            <a:off x="1201342" y="7223190"/>
            <a:ext cx="21971002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 defTabSz="825500"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POWER BI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he dataset contains grocery sales information such as:…"/>
          <p:cNvSpPr txBox="1"/>
          <p:nvPr>
            <p:ph type="body" idx="1"/>
          </p:nvPr>
        </p:nvSpPr>
        <p:spPr>
          <a:xfrm>
            <a:off x="1206500" y="3232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dataset contains grocery sales information such as: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Item Type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Item Fat Content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Outlet Size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Outlet Location Type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Outlet Type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Outlet Establishment Year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Sales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Rating</a:t>
            </a:r>
          </a:p>
        </p:txBody>
      </p:sp>
      <p:sp>
        <p:nvSpPr>
          <p:cNvPr id="156" name="STEP 1"/>
          <p:cNvSpPr txBox="1"/>
          <p:nvPr/>
        </p:nvSpPr>
        <p:spPr>
          <a:xfrm>
            <a:off x="1712754" y="1561598"/>
            <a:ext cx="2711959" cy="10192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6000"/>
            </a:lvl1pPr>
          </a:lstStyle>
          <a:p>
            <a:pPr/>
            <a:r>
              <a:t>STEP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TEP2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STEP2</a:t>
            </a:r>
          </a:p>
        </p:txBody>
      </p:sp>
      <p:sp>
        <p:nvSpPr>
          <p:cNvPr id="159" name="The objective of this project is to analyze BlinkIT grocery sales data and create an interactive dashboard to understand:…"/>
          <p:cNvSpPr txBox="1"/>
          <p:nvPr>
            <p:ph type="body" idx="1"/>
          </p:nvPr>
        </p:nvSpPr>
        <p:spPr>
          <a:xfrm>
            <a:off x="1206500" y="38040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objective of this project is to analyze BlinkIT grocery sales data and create an interactive dashboard to understand:</a:t>
            </a:r>
          </a:p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Total sales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sales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Outlet performance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Item type performance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Sales by outlet size and location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TEP3 Data Cleaning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STEP3 Data Cleaning</a:t>
            </a:r>
          </a:p>
        </p:txBody>
      </p:sp>
      <p:sp>
        <p:nvSpPr>
          <p:cNvPr id="162" name="In Power Query, I performed: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 Power Query, I performed: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Checked missing values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Removed duplicate records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Corrected data types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Standardized text values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Removed unnecessary columns if required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TEP4 Data Transformation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STEP4 Data Transformation</a:t>
            </a:r>
          </a:p>
        </p:txBody>
      </p:sp>
      <p:sp>
        <p:nvSpPr>
          <p:cNvPr id="165" name="I transformed the data to make it analysis-ready: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spcBef>
                <a:spcPts val="1400"/>
              </a:spcBef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 transformed the data to make it analysis-ready: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Cleaned item fat content values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Checked numerical columns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Verified sales and rating columns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Prepared data for dashboard visuals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TEP 5 DAX Measures Created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STEP 5 DAX Measures Created</a:t>
            </a:r>
          </a:p>
        </p:txBody>
      </p:sp>
      <p:sp>
        <p:nvSpPr>
          <p:cNvPr id="168" name="I created measures like:…"/>
          <p:cNvSpPr txBox="1"/>
          <p:nvPr>
            <p:ph type="body" idx="1"/>
          </p:nvPr>
        </p:nvSpPr>
        <p:spPr>
          <a:xfrm>
            <a:off x="1206500" y="38167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356615">
              <a:spcBef>
                <a:spcPts val="1100"/>
              </a:spcBef>
              <a:defRPr sz="39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356615">
              <a:spcBef>
                <a:spcPts val="900"/>
              </a:spcBef>
              <a:defRPr b="0" sz="3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 created measures like:</a:t>
            </a: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  <a:r>
              <a:t>Total Sales = SUM('BlinkIT Grocery Data'[Sales])</a:t>
            </a: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  <a:r>
              <a:t>Average Sales = AVERAGE('BlinkIT Grocery Data'[Sales])</a:t>
            </a: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  <a:r>
              <a:t>No of Items = COUNT('BlinkIT Grocery Data'[Item Identifier])</a:t>
            </a: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356615">
              <a:defRPr b="0" sz="3900">
                <a:latin typeface="Courier"/>
                <a:ea typeface="Courier"/>
                <a:cs typeface="Courier"/>
                <a:sym typeface="Courier"/>
              </a:defRPr>
            </a:pPr>
            <a:r>
              <a:t>Average Rating = AVERAGE('BlinkIT Grocery Data'[Rating])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DASHBOARD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DASHBOARD</a:t>
            </a:r>
          </a:p>
        </p:txBody>
      </p:sp>
      <p:sp>
        <p:nvSpPr>
          <p:cNvPr id="171" name="Card Visuals → Total Sales, Average Sales, Number of Items, Average Rating…"/>
          <p:cNvSpPr txBox="1"/>
          <p:nvPr>
            <p:ph type="body" idx="1"/>
          </p:nvPr>
        </p:nvSpPr>
        <p:spPr>
          <a:xfrm>
            <a:off x="1206500" y="39437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Card Visuals</a:t>
            </a:r>
            <a:r>
              <a:rPr b="0"/>
              <a:t> → Total Sales, Average Sales, Number of Items, Average Rating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Area Chart</a:t>
            </a:r>
            <a:r>
              <a:rPr b="0"/>
              <a:t> → Total Sales by Outlet Establishment Year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Funnel Chart</a:t>
            </a:r>
            <a:r>
              <a:rPr b="0"/>
              <a:t> → Total Sales by Outlet Location Type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Donut Chart</a:t>
            </a:r>
            <a:r>
              <a:rPr b="0"/>
              <a:t> → Fat Content Analysis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Clustered Bar Chart</a:t>
            </a:r>
            <a:r>
              <a:rPr b="0"/>
              <a:t> → Item Fat Content by Outlet Location Type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Horizontal Bar Chart</a:t>
            </a:r>
            <a:r>
              <a:rPr b="0"/>
              <a:t> → Item Type Analysis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Pie Chart</a:t>
            </a:r>
            <a:r>
              <a:rPr b="0"/>
              <a:t> → Total Sales by Outlet Size</a:t>
            </a:r>
            <a:endParaRPr b="0"/>
          </a:p>
          <a:p>
            <a:pPr defTabSz="457200">
              <a:defRPr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Table Visual</a:t>
            </a:r>
            <a:r>
              <a:rPr b="0"/>
              <a:t> → Outlet Type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Screenshot 2026-05-26 at 2.18.49 PM.png" descr="Screenshot 2026-05-26 at 2.18.4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454" y="-3243814"/>
            <a:ext cx="32325805" cy="202036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KEY INSIGHTS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KEY INSIGHTS</a:t>
            </a:r>
          </a:p>
        </p:txBody>
      </p:sp>
      <p:sp>
        <p:nvSpPr>
          <p:cNvPr id="176" name="Main findings: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57200">
              <a:spcBef>
                <a:spcPts val="1200"/>
              </a:spcBef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 findings: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Tier 3 locations had the Lowest sales.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Medium outlets contributed the most revenue.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Supermarket Type 1 performed best.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Snack foods were among the top-selling categories.</a:t>
            </a:r>
          </a:p>
          <a:p>
            <a:pPr marL="457200" indent="-317500" defTabSz="457200">
              <a:buSzPct val="123000"/>
              <a:buFont typeface="Times Roman"/>
              <a:buChar char="•"/>
              <a:defRPr b="0" sz="5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 Fat items had higher sales contribution.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BUSINESS RECOMMENDATIONS"/>
          <p:cNvSpPr txBox="1"/>
          <p:nvPr>
            <p:ph type="title"/>
          </p:nvPr>
        </p:nvSpPr>
        <p:spPr>
          <a:xfrm>
            <a:off x="1206500" y="1079499"/>
            <a:ext cx="21971000" cy="1433165"/>
          </a:xfrm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BUSINESS RECOMMENDATIONS</a:t>
            </a:r>
          </a:p>
        </p:txBody>
      </p:sp>
      <p:sp>
        <p:nvSpPr>
          <p:cNvPr id="179" name="Focus more on Tier 3 locations.…"/>
          <p:cNvSpPr txBox="1"/>
          <p:nvPr>
            <p:ph type="body" idx="1"/>
          </p:nvPr>
        </p:nvSpPr>
        <p:spPr>
          <a:xfrm>
            <a:off x="1206500" y="3494390"/>
            <a:ext cx="21971002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defTabSz="429768">
              <a:spcBef>
                <a:spcPts val="1400"/>
              </a:spcBef>
              <a:defRPr sz="4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29768">
              <a:spcBef>
                <a:spcPts val="1100"/>
              </a:spcBef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Focus more on Tier 3 locations.</a:t>
            </a: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Increase stock of high-selling item categories.</a:t>
            </a: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 sales strategy for low-performing outlet types.</a:t>
            </a: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 outlet-size analysis for better expansion planning.</a:t>
            </a: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29768" indent="-298450" defTabSz="429768">
              <a:buSzPct val="123000"/>
              <a:buFont typeface="Times Roman"/>
              <a:buChar char="•"/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29768">
              <a:defRPr b="0" sz="47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dashboard helps BlinkIT understand sales performance across products and outlets. It supports better decision-making by identifying top-performing locations, outlet types, and product categories.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HANK YOU"/>
          <p:cNvSpPr txBox="1"/>
          <p:nvPr>
            <p:ph type="title"/>
          </p:nvPr>
        </p:nvSpPr>
        <p:spPr>
          <a:xfrm>
            <a:off x="4940132" y="5331838"/>
            <a:ext cx="15251574" cy="4142375"/>
          </a:xfrm>
          <a:prstGeom prst="rect">
            <a:avLst/>
          </a:prstGeom>
        </p:spPr>
        <p:txBody>
          <a:bodyPr/>
          <a:lstStyle>
            <a:lvl1pPr defTabSz="999718">
              <a:defRPr spc="-500" sz="205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